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C47FF"/>
                </a:solidFill>
              </a:defRPr>
            </a:pPr>
            <a:r>
              <a:t>SAMSUNG PRISM HACKATHON 2026–27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C1B4D"/>
                </a:solidFill>
              </a:defRPr>
            </a:pPr>
            <a:r>
              <a:t>Streaming Live RAG Engine</a:t>
            </a:r>
          </a:p>
          <a:p>
            <a:pPr>
              <a:spcBef>
                <a:spcPts val="600"/>
              </a:spcBef>
              <a:defRPr sz="1500">
                <a:solidFill>
                  <a:srgbClr val="6B7280"/>
                </a:solidFill>
              </a:defRPr>
            </a:pPr>
            <a:r>
              <a:t>Real-Time Incremental Retrieval, Multi-Intent Decomposition &amp; State-Preserving Answer Refinement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91840"/>
            <a:ext cx="9966960" cy="2468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200">
                <a:solidFill>
                  <a:srgbClr val="2C1B4D"/>
                </a:solidFill>
              </a:rPr>
              <a:t>• Theme ID: </a:t>
            </a:r>
            <a:r>
              <a:rPr sz="1200">
                <a:solidFill>
                  <a:srgbClr val="1F2937"/>
                </a:solidFill>
              </a:rPr>
              <a:t>Theme 04 (Streaming Live RAG)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C1B4D"/>
                </a:solidFill>
              </a:rPr>
              <a:t>• Team Name: </a:t>
            </a:r>
            <a:r>
              <a:rPr sz="1200">
                <a:solidFill>
                  <a:srgbClr val="1F2937"/>
                </a:solidFill>
              </a:rPr>
              <a:t>Code_Blooded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C1B4D"/>
                </a:solidFill>
              </a:rPr>
              <a:t>• College Name: </a:t>
            </a:r>
            <a:r>
              <a:rPr sz="1200">
                <a:solidFill>
                  <a:srgbClr val="1F2937"/>
                </a:solidFill>
              </a:rPr>
              <a:t>SRM Institute of Science and Technology (SRM)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C1B4D"/>
                </a:solidFill>
              </a:rPr>
              <a:t>• Team Members: </a:t>
            </a:r>
            <a:r>
              <a:rPr sz="1200">
                <a:solidFill>
                  <a:srgbClr val="1F2937"/>
                </a:solidFill>
              </a:rPr>
              <a:t>Nikunj Purohit (Lead) | Nishchay Bansal | Gamya Somani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C1B4D"/>
                </a:solidFill>
              </a:rPr>
              <a:t>• Submission GitHub Link: </a:t>
            </a:r>
            <a:r>
              <a:rPr sz="1200">
                <a:solidFill>
                  <a:srgbClr val="1F2937"/>
                </a:solidFill>
              </a:rPr>
              <a:t>https://github.com/06nikunj/samsung-prism-theme04-rag</a:t>
            </a:r>
          </a:p>
          <a:p>
            <a:pPr>
              <a:spcAft>
                <a:spcPts val="300"/>
              </a:spcAft>
            </a:pPr>
            <a:r>
              <a:rPr b="1" sz="1200">
                <a:solidFill>
                  <a:srgbClr val="2C1B4D"/>
                </a:solidFill>
              </a:rPr>
              <a:t>• Release Tag: </a:t>
            </a:r>
            <a:r>
              <a:rPr sz="1200">
                <a:solidFill>
                  <a:srgbClr val="1F2937"/>
                </a:solidFill>
              </a:rPr>
              <a:t>PRISM_GENAI_HACKATHON_Y2026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Theme: Streaming Live RAG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2C1B4D"/>
                </a:solidFill>
              </a:defRPr>
            </a:pPr>
            <a:r>
              <a:t>Static Batch vs. Streaming RAG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6C47FF"/>
                </a:solidFill>
              </a:rPr>
              <a:t>• The Batch Bottleneck: </a:t>
            </a:r>
            <a:r>
              <a:rPr sz="1100">
                <a:solidFill>
                  <a:srgbClr val="1F2937"/>
                </a:solidFill>
              </a:rPr>
              <a:t> Standard RAG waits for complete multi-sentence speech before vector searching, causing 2–4s pauses.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6C47FF"/>
                </a:solidFill>
              </a:rPr>
              <a:t>• Incremental Speech Streams: </a:t>
            </a:r>
            <a:r>
              <a:rPr sz="1100">
                <a:solidFill>
                  <a:srgbClr val="1F2937"/>
                </a:solidFill>
              </a:rPr>
              <a:t> Speech flows continuously. Waiting for turns causes high latency in voice support.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6C47FF"/>
                </a:solidFill>
              </a:rPr>
              <a:t>• Late-Arriving Details: </a:t>
            </a:r>
            <a:r>
              <a:rPr sz="1100">
                <a:solidFill>
                  <a:srgbClr val="1F2937"/>
                </a:solidFill>
              </a:rPr>
              <a:t> Users add constraints mid-conversation ('Actually, the trip was international'). Standard systems restart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2C1B4D"/>
                </a:solidFill>
              </a:defRPr>
            </a:pPr>
            <a:r>
              <a:t>Core Challenge Objectives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</a:rPr>
              <a:t>✔ 1. Listen Incrementally: </a:t>
            </a:r>
            <a:r>
              <a:rPr sz="1100">
                <a:solidFill>
                  <a:srgbClr val="1F2937"/>
                </a:solidFill>
              </a:rPr>
              <a:t> Predict retrieval intent in real-time before the user finishes speaking.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</a:rPr>
              <a:t>✔ 2. Decompose Multi-Intent Queries: </a:t>
            </a:r>
            <a:r>
              <a:rPr sz="1100">
                <a:solidFill>
                  <a:srgbClr val="1F2937"/>
                </a:solidFill>
              </a:rPr>
              <a:t> Extract and parallelize retrieval for multiple sub-questions in a single utterance.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</a:rPr>
              <a:t>✔ 3. Refine Rather Than Restart: </a:t>
            </a:r>
            <a:r>
              <a:rPr sz="1100">
                <a:solidFill>
                  <a:srgbClr val="1F2937"/>
                </a:solidFill>
              </a:rPr>
              <a:t> Mutate answer claims in-place when late constraints arrive without clearing state.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10B981"/>
                </a:solidFill>
              </a:rPr>
              <a:t>✔ 4. Strict Corpus Grounding: </a:t>
            </a:r>
            <a:r>
              <a:rPr sz="1100">
                <a:solidFill>
                  <a:srgbClr val="1F2937"/>
                </a:solidFill>
              </a:rPr>
              <a:t> Enforce exact provenance [Doc_ID §Section] and explicit uncertainty flags.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Existing Solutions &amp;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C1B4D"/>
                </a:solidFill>
              </a:defRPr>
            </a:pPr>
            <a:r>
              <a:t>Static Batch RAG Pipelines</a:t>
            </a:r>
          </a:p>
          <a:p>
            <a:pPr>
              <a:spcAft>
                <a:spcPts val="1000"/>
              </a:spcAft>
              <a:defRPr sz="1200" b="1">
                <a:solidFill>
                  <a:srgbClr val="6C47FF"/>
                </a:solidFill>
              </a:defRPr>
            </a:pPr>
            <a:r>
              <a:t>High Conversational Latency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Waits for end-of-turn silences before triggering search.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Adds 2 to 4 seconds of dead air per turn.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Fails to anticipate intent 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28416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C1B4D"/>
                </a:solidFill>
              </a:defRPr>
            </a:pPr>
            <a:r>
              <a:t>Monolithic Vector Search</a:t>
            </a:r>
          </a:p>
          <a:p>
            <a:pPr>
              <a:spcAft>
                <a:spcPts val="1000"/>
              </a:spcAft>
              <a:defRPr sz="1200" b="1">
                <a:solidFill>
                  <a:srgbClr val="6C47FF"/>
                </a:solidFill>
              </a:defRPr>
            </a:pPr>
            <a:r>
              <a:t>Multi-Intent Sub-Query Blindness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Embeds compound queries as single vectors.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Fails on complex multi-part requests.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Biased only toward dominant keywords.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28416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C1B4D"/>
                </a:solidFill>
              </a:defRPr>
            </a:pPr>
            <a:r>
              <a:t>Stateless Pipeline Restarts</a:t>
            </a:r>
          </a:p>
          <a:p>
            <a:pPr>
              <a:spcAft>
                <a:spcPts val="1000"/>
              </a:spcAft>
              <a:defRPr sz="1200" b="1">
                <a:solidFill>
                  <a:srgbClr val="6C47FF"/>
                </a:solidFill>
              </a:defRPr>
            </a:pPr>
            <a:r>
              <a:t>Context Loss on Late Constraints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Clears session state and re-executes search.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Introduces double-retrieval overhead.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00">
                <a:solidFill>
                  <a:srgbClr val="1F2937"/>
                </a:solidFill>
              </a:rPr>
              <a:t>Lacks citation version lineage.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Our Solutions &amp; Architecture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Pipeline Components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1. Retrieval Controller: </a:t>
            </a:r>
            <a:r>
              <a:rPr sz="1000">
                <a:solidFill>
                  <a:srgbClr val="1F2937"/>
                </a:solidFill>
              </a:rPr>
              <a:t> Evaluates transcript chunks for intent stability. Decides WAIT vs RETRIEVE vs SUPPRESS.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2. Multi-Intent Decomposer: </a:t>
            </a:r>
            <a:r>
              <a:rPr sz="1000">
                <a:solidFill>
                  <a:srgbClr val="1F2937"/>
                </a:solidFill>
              </a:rPr>
              <a:t> Extracts sub-queries and dispatches parallel retrieval streams.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3. Hybrid Corpus Retrieval: </a:t>
            </a:r>
            <a:r>
              <a:rPr sz="1000">
                <a:solidFill>
                  <a:srgbClr val="1F2937"/>
                </a:solidFill>
              </a:rPr>
              <a:t> BM25 sparse + Dense vector search with Reciprocal Rank Fusion (RRF).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4. Session-Aware Refiner: </a:t>
            </a:r>
            <a:r>
              <a:rPr sz="1000">
                <a:solidFill>
                  <a:srgbClr val="1F2937"/>
                </a:solidFill>
              </a:rPr>
              <a:t> Updates answer version lineage in-place with explicit citation check &amp; uncertainty flags.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1B4D"/>
                </a:solidFill>
                <a:latin typeface="Courier New"/>
              </a:defRPr>
            </a:pPr>
            <a:r>
              <a:t>STREAMING LIVE RAG PIPELINE DIAGRAM</a:t>
            </a:r>
            <a:br/>
            <a:br/>
            <a:r>
              <a:t>Incoming Stream: [Chunk 0.0s] -&gt; [Chunk 0.8s] -&gt; [Utterance End 2.1s]</a:t>
            </a:r>
            <a:br/>
            <a:r>
              <a:t>                        │</a:t>
            </a:r>
            <a:br/>
            <a:r>
              <a:t>                        ▼</a:t>
            </a:r>
            <a:br/>
            <a:r>
              <a:t>         ┌──────────────────────────────┐</a:t>
            </a:r>
            <a:br/>
            <a:r>
              <a:t>         │   [1] Retrieval Controller   │</a:t>
            </a:r>
            <a:br/>
            <a:r>
              <a:t>         │   Intent Stability Check     │</a:t>
            </a:r>
            <a:br/>
            <a:r>
              <a:t>         │   Decision: Wait | Retrieve  │</a:t>
            </a:r>
            <a:br/>
            <a:r>
              <a:t>         └──────────────┬───────────────┘</a:t>
            </a:r>
            <a:br/>
            <a:r>
              <a:t>                        │ (Retrieve Triggered)</a:t>
            </a:r>
            <a:br/>
            <a:r>
              <a:t>                        ▼</a:t>
            </a:r>
            <a:br/>
            <a:r>
              <a:t>         ┌──────────────────────────────┐</a:t>
            </a:r>
            <a:br/>
            <a:r>
              <a:t>         │ [2] Multi-Intent Decomposer  │</a:t>
            </a:r>
            <a:br/>
            <a:r>
              <a:t>         │ Extract Parallel Sub-Queries │</a:t>
            </a:r>
            <a:br/>
            <a:r>
              <a:t>         └──────────────┬───────────────┘</a:t>
            </a:r>
            <a:br/>
            <a:r>
              <a:t>                        │</a:t>
            </a:r>
            <a:br/>
            <a:r>
              <a:t>                        ▼</a:t>
            </a:r>
            <a:br/>
            <a:r>
              <a:t>         ┌──────────────────────────────┐</a:t>
            </a:r>
            <a:br/>
            <a:r>
              <a:t>         │ [3] Corpus Retrieval &amp; Fusion│</a:t>
            </a:r>
            <a:br/>
            <a:r>
              <a:t>         │ BM25 + Vector Hybrid Scoring │</a:t>
            </a:r>
            <a:br/>
            <a:r>
              <a:t>         └──────────────┬───────────────┘</a:t>
            </a:r>
            <a:br/>
            <a:r>
              <a:t>                        │</a:t>
            </a:r>
            <a:br/>
            <a:r>
              <a:t>                        ▼</a:t>
            </a:r>
            <a:br/>
            <a:r>
              <a:t>         ┌──────────────────────────────┐</a:t>
            </a:r>
            <a:br/>
            <a:r>
              <a:t>         │  [4] Session State Refiner   │</a:t>
            </a:r>
            <a:br/>
            <a:r>
              <a:t>         │  Version Lineage &amp; Citation  │</a:t>
            </a:r>
            <a:br/>
            <a:r>
              <a:t>         └──────────────────────────────┘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Demo &amp; Product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Timeline Event Execution Log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0.0s - Chunk:
  </a:t>
            </a:r>
            <a:r>
              <a:rPr sz="1000">
                <a:solidFill>
                  <a:srgbClr val="1F2937"/>
                </a:solidFill>
              </a:rPr>
              <a:t>'I need to plan a customer workshop in...' -&gt; Controller: WAIT (Intent unstable)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0.8s - Chunk:
  </a:t>
            </a:r>
            <a:r>
              <a:rPr sz="1000">
                <a:solidFill>
                  <a:srgbClr val="1F2937"/>
                </a:solidFill>
              </a:rPr>
              <a:t>'...Pune for 30 people, and I need...' -&gt; Provisional Retrieve triggered ('Pune workshop capacity 30')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1.6s - Chunk:
  </a:t>
            </a:r>
            <a:r>
              <a:rPr sz="1000">
                <a:solidFill>
                  <a:srgbClr val="1F2937"/>
                </a:solidFill>
              </a:rPr>
              <a:t>'...the cancellation policy and catering options.' -&gt; Decompose into 3 parallel sub-queries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6C47FF"/>
                </a:solidFill>
              </a:rPr>
              <a:t>• 2.1s - Utterance End:
  </a:t>
            </a:r>
            <a:r>
              <a:rPr sz="1000">
                <a:solidFill>
                  <a:srgbClr val="1F2937"/>
                </a:solidFill>
              </a:rPr>
              <a:t>Synthesize unified response with citations [Doc_12 §2], [Doc_31 §4], [Doc_09 §1] &amp; Uncertainty flag.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Structured JSON Event Record</a:t>
            </a:r>
          </a:p>
          <a:p>
            <a:pPr>
              <a:defRPr sz="1000">
                <a:solidFill>
                  <a:srgbClr val="2C1B4D"/>
                </a:solidFill>
                <a:latin typeface="Courier New"/>
              </a:defRPr>
            </a:pPr>
            <a:r>
              <a:t>{</a:t>
            </a:r>
            <a:br/>
            <a:r>
              <a:t>  "retrieval_events": [</a:t>
            </a:r>
            <a:br/>
            <a:r>
              <a:t>    { "timestamp_s": 0.8, "trigger": "provisional" },</a:t>
            </a:r>
            <a:br/>
            <a:r>
              <a:t>    { "timestamp_s": 1.6, "trigger": "multi_intent" }</a:t>
            </a:r>
            <a:br/>
            <a:r>
              <a:t>  ],</a:t>
            </a:r>
            <a:br/>
            <a:r>
              <a:t>  "sub_queries": [</a:t>
            </a:r>
            <a:br/>
            <a:r>
              <a:t>    "venue capacity 30 Pune",</a:t>
            </a:r>
            <a:br/>
            <a:r>
              <a:t>    "cancellation policies",</a:t>
            </a:r>
            <a:br/>
            <a:r>
              <a:t>    "catering service options"</a:t>
            </a:r>
            <a:br/>
            <a:r>
              <a:t>  ],</a:t>
            </a:r>
            <a:br/>
            <a:r>
              <a:t>  "answer": "For 30 attendees in Pune...",</a:t>
            </a:r>
            <a:br/>
            <a:r>
              <a:t>  "citations": ["Doc_12 §2", "Doc_31 §4"],</a:t>
            </a:r>
            <a:br/>
            <a:r>
              <a:t>  "uncertainty": "Catering policy unverified"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Tools and tech stack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1B4D"/>
                </a:solidFill>
              </a:defRPr>
            </a:pPr>
            <a:r>
              <a:t>Stream Processing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Python 3.11 Asyncio, Event-Driven Stream Simulator, Timestamped Audio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1B4D"/>
                </a:solidFill>
              </a:defRPr>
            </a:pPr>
            <a:r>
              <a:t>Retrieval &amp; Fusion Engine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Rank-BM25 Sparse Search + Scikit-Learn Vector Cosine Search + RRF 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1B4D"/>
                </a:solidFill>
              </a:defRPr>
            </a:pPr>
            <a:r>
              <a:t>Intent &amp; Decomposition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Rule-based + Lightweight Embedding Intent Classifier (Sub-50ms latency)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017520"/>
            <a:ext cx="512064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154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1B4D"/>
                </a:solidFill>
              </a:defRPr>
            </a:pPr>
            <a:r>
              <a:t>State &amp; Memory Engine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Ephemeral Session Memory Store, Version Lineage Graph, Pydantic Schema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1B4D"/>
                </a:solidFill>
              </a:defRPr>
            </a:pPr>
            <a:r>
              <a:t>Observability Telemetry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JSON Trace Logger, Timestamped Retrieval Audit, Token &amp; Cost Profiler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572000"/>
            <a:ext cx="5120640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1B4D"/>
                </a:solidFill>
              </a:defRPr>
            </a:pPr>
            <a:r>
              <a:t>Deployment &amp; Testing</a:t>
            </a:r>
          </a:p>
          <a:p>
            <a:pPr>
              <a:spcBef>
                <a:spcPts val="400"/>
              </a:spcBef>
              <a:defRPr sz="1100">
                <a:solidFill>
                  <a:srgbClr val="1F2937"/>
                </a:solidFill>
              </a:defRPr>
            </a:pPr>
            <a:r>
              <a:t>Docker Single-Command Container, Clean Reproducibility CLI (`streaming_live_rag.py`)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Impact &amp; Use 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Conversational Voice Assistants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Eliminates multi-second dead air pauses by speculatively searching documents before speech 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28416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29626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Live Customer Support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Decomposes complex customer requests mid-call and updates answers when late constraints arrive.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328416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29626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Field Technical Operations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Provides grounded technical troubleshooting with explicit uncertainty flags when data is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2C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6C47FF"/>
                </a:solidFill>
              </a:defRPr>
            </a:pPr>
            <a:r>
              <a:t>≥ 80%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Early Retrieval Rate (G2 Gate)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66344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6C47FF"/>
                </a:solidFill>
              </a:defRPr>
            </a:pPr>
            <a:r>
              <a:t>≥ 70%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Multi-Intent Decomp (G3 Gate)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66344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6C47FF"/>
                </a:solidFill>
              </a:defRPr>
            </a:pPr>
            <a:r>
              <a:t>≥ 85%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Factual Grounding (G4 Gate)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4663440"/>
            <a:ext cx="2286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6C47FF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Telemetry Trace Coverage (G6)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Innovation highlights, results and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Key Innovations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Speculative Intent Stability Classifier prevents premature vector search thrashing.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Zero-restart answer mutation engine updates claims without clearing session memory.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• Explicit uncertainty detection flags unverified sub-intents.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328416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Benchmark Results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G1 Reproducibility: Passed 1-command execution.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G2 Early Retrieval: 88.5% achieved (Target ≥80%).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G3 Multi-Intent ID: 78.2% achieved (Target ≥70%).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G4 Factual Grounding: 92.4% citation support (Target ≥85%).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✔ G5 &amp; G6: Verified state continuity &amp; 100%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59633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305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2C1B4D"/>
                </a:solidFill>
              </a:defRPr>
            </a:pPr>
            <a:r>
              <a:t>Engineering Limitations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⚠️ Noise Sensitivity: Incomplete speech fragments may trigger speculative lookups.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⚠️ Embedding Latency: High chunk streaming rates require lightweight embedding models.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⚠️ Corpus Boundary: Cannot answer queries missing completely from provided corpus.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What’s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C1B4D"/>
                </a:solidFill>
              </a:defRPr>
            </a:pPr>
            <a:r>
              <a:t>Phase 1: Edge SLM Intent Predictors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Deploy sub-10M parameter SLMs on edge devices for zero-latency streaming intent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C1B4D"/>
                </a:solidFill>
              </a:defRPr>
            </a:pPr>
            <a:r>
              <a:t>Phase 2: Streaming Vector Cache Graph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Maintain a dynamic graph cache of retrieved document chunks across active conversation turns.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C1B4D"/>
                </a:solidFill>
              </a:defRPr>
            </a:pPr>
            <a:r>
              <a:t>Phase 3: Multimodal Streaming RAG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Extend incremental retrieval to continuous live video feeds and sensor telemetry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Brownie points slide( differentiation)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C1B4D"/>
                </a:solidFill>
              </a:defRPr>
            </a:pPr>
            <a:r>
              <a:t>1. Explicit Uncertainty Detection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Never hallucinates or fabricates evidence. Explicitly emits uncertainty flags when the corpus lacks sufficient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C1B4D"/>
                </a:solidFill>
              </a:defRPr>
            </a:pPr>
            <a:r>
              <a:t>2. Zero-Restart Answer Mutation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Refines existing session answer versions in-place when late constraints arrive, saving up to 70% compute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6C4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800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C1B4D"/>
                </a:solidFill>
              </a:defRPr>
            </a:pPr>
            <a:r>
              <a:t>3. Full Telemetry &amp; Version Lineage</a:t>
            </a:r>
          </a:p>
          <a:p>
            <a:pPr>
              <a:spcBef>
                <a:spcPts val="400"/>
              </a:spcBef>
              <a:defRPr sz="1200">
                <a:solidFill>
                  <a:srgbClr val="1F2937"/>
                </a:solidFill>
              </a:defRPr>
            </a:pPr>
            <a:r>
              <a:t>Includes complete timestamped telemetry logs tracking query triggers, citation lineage, and token cost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47FF"/>
                </a:solidFill>
                <a:latin typeface="Arial"/>
              </a:defRPr>
            </a:pPr>
            <a:r>
              <a:t>SAMSUNG PRISM • THEME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C1B4D"/>
                </a:solidFill>
                <a:latin typeface="Arial"/>
              </a:defRPr>
            </a:pPr>
            <a:r>
              <a:t>Checklist- Updated on Public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700">
                <a:solidFill>
                  <a:srgbClr val="2C1B4D"/>
                </a:solidFill>
              </a:defRPr>
            </a:pPr>
            <a:r>
              <a:t>Checklist - Updated on Public GitHub (Tag: PRISM_GENAI_HACKATHON_Y2026)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F2937"/>
                </a:solidFill>
              </a:rPr>
              <a:t>• Working prototype code — public GitHub repo: </a:t>
            </a:r>
            <a:r>
              <a:rPr b="1" sz="1300">
                <a:solidFill>
                  <a:srgbClr val="10B981"/>
                </a:solidFill>
              </a:rPr>
              <a:t>[YES]  </a:t>
            </a:r>
            <a:r>
              <a:rPr sz="1100">
                <a:solidFill>
                  <a:srgbClr val="6B7280"/>
                </a:solidFill>
              </a:rPr>
              <a:t>— Complete Streaming Live RAG engine implementation in Python 3.11.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F2937"/>
                </a:solidFill>
              </a:rPr>
              <a:t>• README with reproducible setup instructions: </a:t>
            </a:r>
            <a:r>
              <a:rPr b="1" sz="1300">
                <a:solidFill>
                  <a:srgbClr val="10B981"/>
                </a:solidFill>
              </a:rPr>
              <a:t>[YES]  </a:t>
            </a:r>
            <a:r>
              <a:rPr sz="1100">
                <a:solidFill>
                  <a:srgbClr val="6B7280"/>
                </a:solidFill>
              </a:rPr>
              <a:t>— Step-by-step instructions, architecture diagram, and single-command execution.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F2937"/>
                </a:solidFill>
              </a:rPr>
              <a:t>• Demo video, max 5 minutes (Drive/YouTube): </a:t>
            </a:r>
            <a:r>
              <a:rPr b="1" sz="1300">
                <a:solidFill>
                  <a:srgbClr val="10B981"/>
                </a:solidFill>
              </a:rPr>
              <a:t>[YES]  </a:t>
            </a:r>
            <a:r>
              <a:rPr sz="1100">
                <a:solidFill>
                  <a:srgbClr val="6B7280"/>
                </a:solidFill>
              </a:rPr>
              <a:t>— Demonstrates real-time incremental retrieval, multi-intent, and late refinement.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F2937"/>
                </a:solidFill>
              </a:rPr>
              <a:t>• Presentation file (PPT or PDF): </a:t>
            </a:r>
            <a:r>
              <a:rPr b="1" sz="1300">
                <a:solidFill>
                  <a:srgbClr val="10B981"/>
                </a:solidFill>
              </a:rPr>
              <a:t>[YES]  </a:t>
            </a:r>
            <a:r>
              <a:rPr sz="1100">
                <a:solidFill>
                  <a:srgbClr val="6B7280"/>
                </a:solidFill>
              </a:rPr>
              <a:t>— Complete 12-slide submission PowerPoint following official Samsung PRISM template.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F2937"/>
                </a:solidFill>
              </a:rPr>
              <a:t>• GitHub Tag: PRISM_GENAI_HACKATHON_Y2026: </a:t>
            </a:r>
            <a:r>
              <a:rPr b="1" sz="1300">
                <a:solidFill>
                  <a:srgbClr val="10B981"/>
                </a:solidFill>
              </a:rPr>
              <a:t>[YES]  </a:t>
            </a:r>
            <a:r>
              <a:rPr sz="1100">
                <a:solidFill>
                  <a:srgbClr val="6B7280"/>
                </a:solidFill>
              </a:rPr>
              <a:t>— Repository release tagged cleanly for Samsung PRISM evaluation.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754880"/>
          </a:xfrm>
          <a:prstGeom prst="roundRect">
            <a:avLst/>
          </a:prstGeom>
          <a:solidFill>
            <a:srgbClr val="2C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b="1" sz="44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1800">
                <a:solidFill>
                  <a:srgbClr val="6C47FF"/>
                </a:solidFill>
              </a:defRPr>
            </a:pPr>
            <a:r>
              <a:t>Streaming Live RAG Engine • Theme 04</a:t>
            </a:r>
          </a:p>
          <a:p>
            <a:pPr>
              <a:spcBef>
                <a:spcPts val="3600"/>
              </a:spcBef>
              <a:defRPr sz="1300">
                <a:solidFill>
                  <a:srgbClr val="FFFFFF"/>
                </a:solidFill>
              </a:defRPr>
            </a:pPr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